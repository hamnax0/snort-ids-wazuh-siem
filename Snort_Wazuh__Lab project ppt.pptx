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12"/>
  </p:notesMasterIdLst>
  <p:sldIdLst>
    <p:sldId id="266" r:id="rId2"/>
    <p:sldId id="257" r:id="rId3"/>
    <p:sldId id="258" r:id="rId4"/>
    <p:sldId id="259" r:id="rId5"/>
    <p:sldId id="260" r:id="rId6"/>
    <p:sldId id="264" r:id="rId7"/>
    <p:sldId id="261" r:id="rId8"/>
    <p:sldId id="265" r:id="rId9"/>
    <p:sldId id="262" r:id="rId10"/>
    <p:sldId id="263" r:id="rId11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259" autoAdjust="0"/>
  </p:normalViewPr>
  <p:slideViewPr>
    <p:cSldViewPr snapToGrid="0" snapToObjects="1">
      <p:cViewPr varScale="1">
        <p:scale>
          <a:sx n="95" d="100"/>
          <a:sy n="95" d="100"/>
        </p:scale>
        <p:origin x="6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6973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0734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5347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360C6-BE8C-3D6E-21F6-CB51D59D2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6E809E-F8C6-A4A8-3012-B721455E7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E2C1E-0A28-AE31-E45C-424AA0AF8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5F3F-EB42-459B-93A8-5BB332CB424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28FB0-892E-7CB1-AE82-DF7741DEB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FA89E-06F4-C6F0-9146-07BA191E4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A23AE-0844-487F-A245-36FD908A1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29930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64FA6-24E5-2BFE-27E2-A0DE2A519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D6288-C4CD-C171-C25D-A960B2C52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C5ACD-5FB7-C354-CB42-D9AFA3185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5F3F-EB42-459B-93A8-5BB332CB424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07E5E-AA4B-8394-114D-B93E43BD4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EABBE-CC13-9FD3-CC59-1AE82DA3B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A23AE-0844-487F-A245-36FD908A1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75237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613E7-F9CF-0F8E-C7EE-DF4F116B5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889A4-AEFE-10E7-A5F8-8D27A21A8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44299-3C72-5507-7A40-AC816D8D5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5F3F-EB42-459B-93A8-5BB332CB424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BDE02-C9B6-3572-0D37-115C1DDCE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BB793-5F48-254E-9615-B2834A71E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A23AE-0844-487F-A245-36FD908A1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32316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F17B6-FFFE-760F-A318-BE15398E3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2E824-7DB6-58BD-CCB6-6C981480C0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1F89A7-E56E-B5E1-38A6-35D306ED7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16A04-4839-C2BB-9B32-1C4CA5236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5F3F-EB42-459B-93A8-5BB332CB424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B2424-592C-528C-A465-38578E22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64DF75-72F3-4C9F-B6D5-06F561BCB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A23AE-0844-487F-A245-36FD908A1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88395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14731-E162-D392-935B-2C268FEA4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1E331-E29A-B286-2466-EB5213F82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7A507C-414D-9EA6-3FC6-436DC6347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7019A3-FC42-B8A4-1C89-297BE06038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51FA3D-A83B-0ADF-8DBA-22DAB2FED1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1402FC-783E-D023-23E6-10490EBFA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5F3F-EB42-459B-93A8-5BB332CB424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22AE51-8753-61DF-2289-82318F6D7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C70D6D-BC9F-8228-4813-A6B9AB7AD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A23AE-0844-487F-A245-36FD908A1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03162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02464-1EDC-66AF-A9CF-B1AA43D09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6F1CB1-29DC-785D-CF22-EAF02FB6F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5F3F-EB42-459B-93A8-5BB332CB424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C1625B-C47B-557F-3CCE-3C801B47C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B70F06-E15A-0770-AEE9-D8DEE4171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A23AE-0844-487F-A245-36FD908A1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6027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6D44DA-CA44-9D01-F296-7A3ADA89A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5F3F-EB42-459B-93A8-5BB332CB424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523C47-136A-E2D5-8EB4-18930E76D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C5F1E-8FCA-8055-8818-7B4D9B1F9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A23AE-0844-487F-A245-36FD908A1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085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6FF98-E035-EB64-C53C-88EAD66E8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F6B79-6B22-F308-81BB-36626EB46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0643AB-64E4-BC3E-7CA1-87712DDA8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62584-DCAE-D870-5F64-C31BEB9E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5F3F-EB42-459B-93A8-5BB332CB424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F3D5D-8523-3014-C862-524AF6C3E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AD508-DBDA-B1C3-EB09-1B24DAC45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A23AE-0844-487F-A245-36FD908A1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10731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F6D1B-A50F-E698-827C-DE2EA1AF6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B07C6F-9681-959A-AC77-DAB201650B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5B5A80-ED1E-690D-4F67-F3BDF3C52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9CF2DD-7ABD-942F-DEDA-F2C4569A5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5F3F-EB42-459B-93A8-5BB332CB424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595102-0D03-3671-F6E1-A97EC82FB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CD651-0514-DE46-B071-2F8254668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A23AE-0844-487F-A245-36FD908A1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92524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BF6A-D968-06CB-82EA-7340F582E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1A3A31-1720-BBCA-B63F-F80B1B85D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8F805-36F6-4227-47A4-ED05B11AC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5F3F-EB42-459B-93A8-5BB332CB424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8A1CC-0023-079C-0673-5ECB8D228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6D9E3-3B76-332A-C4C7-9D8ED9B11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A23AE-0844-487F-A245-36FD908A1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2376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0E58C7-CB84-7C48-4C35-DF1EEA7E32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EA10F1-6E2D-7390-18CE-E02474DB8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DE7CB-FAF2-FA4B-86F4-B5EEBC231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5F3F-EB42-459B-93A8-5BB332CB424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46929-BE96-02CA-E04C-B1F6F566F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FB469-2CC2-7CAB-5C2A-E91A8DBC0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A23AE-0844-487F-A245-36FD908A1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35330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9959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0717A5-950F-0DA0-6D4D-966109B0E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F2264-1C56-E9E5-5216-0CA4C91E5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8241D-C3B4-CD8A-036B-776DA8AE67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095F3F-EB42-459B-93A8-5BB332CB424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C1217-3BAB-F72C-B1B7-4169EA460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A3519-F945-2FC9-27DC-05F38B4E78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AA23AE-0844-487F-A245-36FD908A1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833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object 3"/>
          <p:cNvGrpSpPr/>
          <p:nvPr/>
        </p:nvGrpSpPr>
        <p:grpSpPr>
          <a:xfrm>
            <a:off x="146890" y="142414"/>
            <a:ext cx="8837322" cy="4999282"/>
            <a:chOff x="550903" y="1568883"/>
            <a:chExt cx="9063183" cy="8768999"/>
          </a:xfrm>
        </p:grpSpPr>
        <p:sp>
          <p:nvSpPr>
            <p:cNvPr id="13" name="object 4"/>
            <p:cNvSpPr/>
            <p:nvPr/>
          </p:nvSpPr>
          <p:spPr>
            <a:xfrm>
              <a:off x="614981" y="8673547"/>
              <a:ext cx="3189003" cy="1664335"/>
            </a:xfrm>
            <a:custGeom>
              <a:avLst/>
              <a:gdLst/>
              <a:ahLst/>
              <a:cxnLst/>
              <a:rect l="l" t="t" r="r" b="b"/>
              <a:pathLst>
                <a:path w="3498850" h="1664334">
                  <a:moveTo>
                    <a:pt x="0" y="1663906"/>
                  </a:moveTo>
                  <a:lnTo>
                    <a:pt x="804171" y="1663906"/>
                  </a:lnTo>
                  <a:lnTo>
                    <a:pt x="1310182" y="787255"/>
                  </a:lnTo>
                  <a:lnTo>
                    <a:pt x="1319416" y="771894"/>
                  </a:lnTo>
                  <a:lnTo>
                    <a:pt x="1350036" y="727766"/>
                  </a:lnTo>
                  <a:lnTo>
                    <a:pt x="1384820" y="686840"/>
                  </a:lnTo>
                  <a:lnTo>
                    <a:pt x="1423451" y="649496"/>
                  </a:lnTo>
                  <a:lnTo>
                    <a:pt x="1465547" y="616107"/>
                  </a:lnTo>
                  <a:lnTo>
                    <a:pt x="1510689" y="587002"/>
                  </a:lnTo>
                  <a:lnTo>
                    <a:pt x="1558458" y="562446"/>
                  </a:lnTo>
                  <a:lnTo>
                    <a:pt x="1608416" y="542669"/>
                  </a:lnTo>
                  <a:lnTo>
                    <a:pt x="1660068" y="527870"/>
                  </a:lnTo>
                  <a:lnTo>
                    <a:pt x="1712900" y="518194"/>
                  </a:lnTo>
                  <a:lnTo>
                    <a:pt x="1766425" y="513724"/>
                  </a:lnTo>
                  <a:lnTo>
                    <a:pt x="1784344" y="513401"/>
                  </a:lnTo>
                  <a:lnTo>
                    <a:pt x="3498492" y="513401"/>
                  </a:lnTo>
                  <a:lnTo>
                    <a:pt x="3283280" y="140554"/>
                  </a:lnTo>
                  <a:lnTo>
                    <a:pt x="3251138" y="95756"/>
                  </a:lnTo>
                  <a:lnTo>
                    <a:pt x="3210814" y="58035"/>
                  </a:lnTo>
                  <a:lnTo>
                    <a:pt x="3163898" y="28918"/>
                  </a:lnTo>
                  <a:lnTo>
                    <a:pt x="3112278" y="9541"/>
                  </a:lnTo>
                  <a:lnTo>
                    <a:pt x="3057874" y="587"/>
                  </a:lnTo>
                  <a:lnTo>
                    <a:pt x="3039425" y="0"/>
                  </a:lnTo>
                  <a:lnTo>
                    <a:pt x="1122936" y="0"/>
                  </a:lnTo>
                  <a:lnTo>
                    <a:pt x="1068050" y="5387"/>
                  </a:lnTo>
                  <a:lnTo>
                    <a:pt x="1015195" y="21406"/>
                  </a:lnTo>
                  <a:lnTo>
                    <a:pt x="966489" y="47446"/>
                  </a:lnTo>
                  <a:lnTo>
                    <a:pt x="923865" y="82440"/>
                  </a:lnTo>
                  <a:lnTo>
                    <a:pt x="888873" y="125067"/>
                  </a:lnTo>
                  <a:lnTo>
                    <a:pt x="879129" y="140748"/>
                  </a:lnTo>
                  <a:lnTo>
                    <a:pt x="0" y="1663906"/>
                  </a:lnTo>
                  <a:close/>
                </a:path>
              </a:pathLst>
            </a:custGeom>
            <a:solidFill>
              <a:srgbClr val="2E58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5"/>
            <p:cNvSpPr/>
            <p:nvPr/>
          </p:nvSpPr>
          <p:spPr>
            <a:xfrm>
              <a:off x="1597441" y="9300190"/>
              <a:ext cx="6649603" cy="1037692"/>
            </a:xfrm>
            <a:custGeom>
              <a:avLst/>
              <a:gdLst/>
              <a:ahLst/>
              <a:cxnLst/>
              <a:rect l="l" t="t" r="r" b="b"/>
              <a:pathLst>
                <a:path w="7439659" h="884554">
                  <a:moveTo>
                    <a:pt x="0" y="884344"/>
                  </a:moveTo>
                  <a:lnTo>
                    <a:pt x="7439122" y="884344"/>
                  </a:lnTo>
                  <a:lnTo>
                    <a:pt x="6972948" y="76833"/>
                  </a:lnTo>
                  <a:lnTo>
                    <a:pt x="6948512" y="45016"/>
                  </a:lnTo>
                  <a:lnTo>
                    <a:pt x="6916680" y="20600"/>
                  </a:lnTo>
                  <a:lnTo>
                    <a:pt x="6879617" y="5247"/>
                  </a:lnTo>
                  <a:lnTo>
                    <a:pt x="6839844" y="0"/>
                  </a:lnTo>
                  <a:lnTo>
                    <a:pt x="599278" y="0"/>
                  </a:lnTo>
                  <a:lnTo>
                    <a:pt x="559507" y="5252"/>
                  </a:lnTo>
                  <a:lnTo>
                    <a:pt x="522446" y="20607"/>
                  </a:lnTo>
                  <a:lnTo>
                    <a:pt x="490614" y="45021"/>
                  </a:lnTo>
                  <a:lnTo>
                    <a:pt x="466174" y="76833"/>
                  </a:lnTo>
                  <a:lnTo>
                    <a:pt x="0" y="884344"/>
                  </a:lnTo>
                  <a:close/>
                </a:path>
              </a:pathLst>
            </a:custGeom>
            <a:solidFill>
              <a:srgbClr val="B8D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6"/>
            <p:cNvSpPr/>
            <p:nvPr/>
          </p:nvSpPr>
          <p:spPr>
            <a:xfrm>
              <a:off x="627103" y="1672334"/>
              <a:ext cx="4195837" cy="7001213"/>
            </a:xfrm>
            <a:custGeom>
              <a:avLst/>
              <a:gdLst/>
              <a:ahLst/>
              <a:cxnLst/>
              <a:rect l="l" t="t" r="r" b="b"/>
              <a:pathLst>
                <a:path w="12701905" h="6469380">
                  <a:moveTo>
                    <a:pt x="0" y="6468998"/>
                  </a:moveTo>
                  <a:lnTo>
                    <a:pt x="0" y="228599"/>
                  </a:ln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12701488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9"/>
            <p:cNvSpPr/>
            <p:nvPr/>
          </p:nvSpPr>
          <p:spPr>
            <a:xfrm>
              <a:off x="4039637" y="2868146"/>
              <a:ext cx="5574449" cy="6209558"/>
            </a:xfrm>
            <a:custGeom>
              <a:avLst/>
              <a:gdLst/>
              <a:ahLst/>
              <a:cxnLst/>
              <a:rect l="l" t="t" r="r" b="b"/>
              <a:pathLst>
                <a:path w="12701905" h="6377305">
                  <a:moveTo>
                    <a:pt x="0" y="6377087"/>
                  </a:moveTo>
                  <a:lnTo>
                    <a:pt x="12472888" y="6377087"/>
                  </a:lnTo>
                  <a:lnTo>
                    <a:pt x="12518959" y="6372443"/>
                  </a:lnTo>
                  <a:lnTo>
                    <a:pt x="12561870" y="6359123"/>
                  </a:lnTo>
                  <a:lnTo>
                    <a:pt x="12600700" y="6338046"/>
                  </a:lnTo>
                  <a:lnTo>
                    <a:pt x="12634533" y="6310132"/>
                  </a:lnTo>
                  <a:lnTo>
                    <a:pt x="12662447" y="6276300"/>
                  </a:lnTo>
                  <a:lnTo>
                    <a:pt x="12683524" y="6237469"/>
                  </a:lnTo>
                  <a:lnTo>
                    <a:pt x="12696844" y="6194558"/>
                  </a:lnTo>
                  <a:lnTo>
                    <a:pt x="12701488" y="6148487"/>
                  </a:lnTo>
                  <a:lnTo>
                    <a:pt x="12701488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0903" y="8450207"/>
              <a:ext cx="152399" cy="283613"/>
            </a:xfrm>
            <a:prstGeom prst="rect">
              <a:avLst/>
            </a:prstGeom>
          </p:spPr>
        </p:pic>
        <p:pic>
          <p:nvPicPr>
            <p:cNvPr id="21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75862" y="1568883"/>
              <a:ext cx="1038224" cy="1157457"/>
            </a:xfrm>
            <a:prstGeom prst="rect">
              <a:avLst/>
            </a:prstGeom>
          </p:spPr>
        </p:pic>
      </p:grpSp>
      <p:pic>
        <p:nvPicPr>
          <p:cNvPr id="22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25750" y="122351"/>
            <a:ext cx="148601" cy="161690"/>
          </a:xfrm>
          <a:prstGeom prst="rect">
            <a:avLst/>
          </a:prstGeom>
        </p:spPr>
      </p:pic>
      <p:pic>
        <p:nvPicPr>
          <p:cNvPr id="23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4318" y="4344217"/>
            <a:ext cx="148601" cy="161690"/>
          </a:xfrm>
          <a:prstGeom prst="rect">
            <a:avLst/>
          </a:prstGeom>
        </p:spPr>
      </p:pic>
      <p:pic>
        <p:nvPicPr>
          <p:cNvPr id="24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09848" y="851345"/>
            <a:ext cx="148601" cy="161690"/>
          </a:xfrm>
          <a:prstGeom prst="rect">
            <a:avLst/>
          </a:prstGeom>
        </p:spPr>
      </p:pic>
      <p:sp>
        <p:nvSpPr>
          <p:cNvPr id="28" name="Text 1"/>
          <p:cNvSpPr/>
          <p:nvPr/>
        </p:nvSpPr>
        <p:spPr>
          <a:xfrm>
            <a:off x="427382" y="1175866"/>
            <a:ext cx="65575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Snort IDS + Wazuh SIEM</a:t>
            </a:r>
            <a:endParaRPr lang="en-US" sz="3600" dirty="0"/>
          </a:p>
        </p:txBody>
      </p:sp>
      <p:sp>
        <p:nvSpPr>
          <p:cNvPr id="29" name="Text 2"/>
          <p:cNvSpPr/>
          <p:nvPr/>
        </p:nvSpPr>
        <p:spPr>
          <a:xfrm>
            <a:off x="427382" y="1738423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Intrusion Detection &amp; Security Event Monitoring</a:t>
            </a:r>
            <a:endParaRPr lang="en-US" sz="1800" dirty="0"/>
          </a:p>
        </p:txBody>
      </p:sp>
      <p:sp>
        <p:nvSpPr>
          <p:cNvPr id="30" name="TextBox 29"/>
          <p:cNvSpPr txBox="1"/>
          <p:nvPr/>
        </p:nvSpPr>
        <p:spPr>
          <a:xfrm>
            <a:off x="307248" y="2624988"/>
            <a:ext cx="23406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Group members:</a:t>
            </a:r>
          </a:p>
          <a:p>
            <a:r>
              <a:rPr lang="en-US" sz="16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Hamna</a:t>
            </a:r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Saleem</a:t>
            </a:r>
            <a:endParaRPr lang="en-US" sz="16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Bisma</a:t>
            </a:r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Safdar</a:t>
            </a:r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16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Mushahaid</a:t>
            </a:r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Niaz</a:t>
            </a:r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16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Shabbar</a:t>
            </a:r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 Hussain</a:t>
            </a:r>
          </a:p>
          <a:p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Salman Khan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42182" y="4059733"/>
            <a:ext cx="47388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Presented To: Miss </a:t>
            </a:r>
            <a:r>
              <a:rPr lang="en-US" sz="1600" b="1" dirty="0" err="1" smtClean="0"/>
              <a:t>Mahnoor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Gillani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231273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3108960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Snort?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Network Intrusion Detection System (NIDS)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live traffic on a network interface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packets against rules and generates alerts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Martin Roesch, maintained by Cisco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used: Snort 2.9.20 GRE (Build 82)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3108960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Wazuh?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SIEM (Security Information &amp; Event Management)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Collects, indexes, and correlates security events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centralized dashboard for SOC analysts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decoders for Snort, Suricata, and more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Manager, Indexer (OpenSearch), Dashboard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2976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Objective: Detect real network attacks launched from Kali Linux using Snort IDS and visualize them on the Wazuh SIEM dashboard in real time.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9892" y="1143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41206" y="444189"/>
            <a:ext cx="8229600" cy="2286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6177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Attack initiated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057400" y="46177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Traffic detected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794760" y="46177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Alert written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32120" y="46177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Log ingested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269480" y="46177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Dashboard alert</a:t>
            </a:r>
            <a:endParaRPr lang="en-US" sz="9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F7CB958C-DBE9-4175-C4DF-559A1B6BE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206" y="514350"/>
            <a:ext cx="8206908" cy="45603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Settings of Both VMs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1" y="1232422"/>
            <a:ext cx="2377440" cy="2653778"/>
          </a:xfrm>
          <a:prstGeom prst="rect">
            <a:avLst/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1" y="1036396"/>
            <a:ext cx="2377440" cy="357879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-200464" y="1027286"/>
            <a:ext cx="3327009" cy="3578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 — Attacker VM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27092"/>
            <a:ext cx="2661223" cy="214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Adapter: VMware NAT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1" y="1850187"/>
            <a:ext cx="2179834" cy="250491"/>
          </a:xfrm>
          <a:prstGeom prst="rect">
            <a:avLst/>
          </a:prstGeom>
          <a:solidFill>
            <a:srgbClr val="FFFFFF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1" y="1850187"/>
            <a:ext cx="1038526" cy="250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4379" y="1841503"/>
            <a:ext cx="1557789" cy="250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ens33 (eth0)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1" y="2196957"/>
            <a:ext cx="2179834" cy="242262"/>
          </a:xfrm>
          <a:prstGeom prst="rect">
            <a:avLst/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1" y="2197659"/>
            <a:ext cx="1038526" cy="250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84378" y="2197659"/>
            <a:ext cx="1557789" cy="250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192.168.121.129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1" y="2545131"/>
            <a:ext cx="2179834" cy="250491"/>
          </a:xfrm>
          <a:prstGeom prst="rect">
            <a:avLst/>
          </a:prstGeom>
          <a:solidFill>
            <a:srgbClr val="FFFFFF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1" y="2545131"/>
            <a:ext cx="1038526" cy="250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Mask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84379" y="2524827"/>
            <a:ext cx="1557789" cy="250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255.255.255.0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1" y="2892603"/>
            <a:ext cx="2179834" cy="250491"/>
          </a:xfrm>
          <a:prstGeom prst="rect">
            <a:avLst/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1" y="2892603"/>
            <a:ext cx="1038526" cy="250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741" y="2900257"/>
            <a:ext cx="1557789" cy="250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192.168.121.0/24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1" y="3242266"/>
            <a:ext cx="2179834" cy="276150"/>
          </a:xfrm>
          <a:prstGeom prst="rect">
            <a:avLst/>
          </a:prstGeom>
          <a:solidFill>
            <a:srgbClr val="FFFFFF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1" y="3240075"/>
            <a:ext cx="1038526" cy="250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742" y="3261812"/>
            <a:ext cx="1557789" cy="250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192.168.121.2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1" y="3588215"/>
            <a:ext cx="2179834" cy="258306"/>
          </a:xfrm>
          <a:prstGeom prst="rect">
            <a:avLst/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1" y="3587547"/>
            <a:ext cx="1038526" cy="250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50164" y="3602270"/>
            <a:ext cx="1557789" cy="250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/ Threat Source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1" y="1211230"/>
            <a:ext cx="2406669" cy="2696072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1" y="1027286"/>
            <a:ext cx="2396587" cy="324483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1" y="1010954"/>
            <a:ext cx="2406669" cy="3166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Linux — Defender VM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926081" y="1502130"/>
            <a:ext cx="2223789" cy="2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Adapter: VMware NAT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68561" y="1825199"/>
            <a:ext cx="2305147" cy="248322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2" y="1825199"/>
            <a:ext cx="867820" cy="248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89122" y="1825199"/>
            <a:ext cx="1301730" cy="248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ens33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63365" y="2165787"/>
            <a:ext cx="2305147" cy="248322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2" y="2172671"/>
            <a:ext cx="867820" cy="248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037975" y="2199829"/>
            <a:ext cx="1301730" cy="248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192.168.121.132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68561" y="2513111"/>
            <a:ext cx="2299951" cy="299221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88195" y="2499375"/>
            <a:ext cx="905707" cy="2690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Mask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35669" y="2506081"/>
            <a:ext cx="1301730" cy="248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255.255.255.0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63365" y="2860584"/>
            <a:ext cx="2305147" cy="248322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2" y="2867615"/>
            <a:ext cx="867820" cy="248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987214" y="2860584"/>
            <a:ext cx="1301730" cy="248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192.168.121.0/24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68561" y="3194171"/>
            <a:ext cx="2305147" cy="248322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26082" y="3215087"/>
            <a:ext cx="867820" cy="248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048370" y="3215087"/>
            <a:ext cx="1301730" cy="248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192.168.121.2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68561" y="3554100"/>
            <a:ext cx="2305147" cy="248322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26082" y="3562559"/>
            <a:ext cx="867820" cy="248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699803" y="3583475"/>
            <a:ext cx="1523062" cy="2274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Snort IDS + Wazuh SIEM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61772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VMs are on the same VMware NAT subnet (192.168.121.0/24) — confirmed connectivity via ping before starting the lab.</a:t>
            </a:r>
            <a:endParaRPr lang="en-US" sz="11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B8764C0B-41FD-E69F-F82E-D8FBEA50D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342" y="1023274"/>
            <a:ext cx="1947832" cy="2884028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38881282-367C-3B9F-197F-3C8C09A54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8773" y="1005516"/>
            <a:ext cx="1874970" cy="29017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Performed — ICMP Flood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2286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2743200" cy="4023360"/>
          </a:xfrm>
          <a:prstGeom prst="rect">
            <a:avLst/>
          </a:prstGeom>
          <a:solidFill>
            <a:srgbClr val="F8F9F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38404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Flood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256032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533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Tool: ping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256032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642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ping -f 192.168.121.132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0299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2402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 target with ICMP echo requests. Simulates DoS attack. Snort captured 262,000+ ICMP packets.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0358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Alert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2918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9" name="Shape 11">
            <a:extLst>
              <a:ext uri="{FF2B5EF4-FFF2-40B4-BE49-F238E27FC236}">
                <a16:creationId xmlns:a16="http://schemas.microsoft.com/office/drawing/2014/main" id="{C4EFBA23-BBB6-8453-20FF-432461C80BE5}"/>
              </a:ext>
            </a:extLst>
          </p:cNvPr>
          <p:cNvSpPr/>
          <p:nvPr/>
        </p:nvSpPr>
        <p:spPr>
          <a:xfrm>
            <a:off x="365760" y="3063240"/>
            <a:ext cx="2560320" cy="2286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971DE8DD-4915-8C0C-FF33-0B09E3A75357}"/>
              </a:ext>
            </a:extLst>
          </p:cNvPr>
          <p:cNvSpPr/>
          <p:nvPr/>
        </p:nvSpPr>
        <p:spPr>
          <a:xfrm>
            <a:off x="365760" y="30632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Alert</a:t>
            </a:r>
            <a:endParaRPr lang="en-US" sz="1000" dirty="0"/>
          </a:p>
        </p:txBody>
      </p:sp>
      <p:sp>
        <p:nvSpPr>
          <p:cNvPr id="51" name="Shape 13">
            <a:extLst>
              <a:ext uri="{FF2B5EF4-FFF2-40B4-BE49-F238E27FC236}">
                <a16:creationId xmlns:a16="http://schemas.microsoft.com/office/drawing/2014/main" id="{0079C6CD-21BF-D15C-00F5-253E72918119}"/>
              </a:ext>
            </a:extLst>
          </p:cNvPr>
          <p:cNvSpPr/>
          <p:nvPr/>
        </p:nvSpPr>
        <p:spPr>
          <a:xfrm>
            <a:off x="365760" y="3291840"/>
            <a:ext cx="2560320" cy="685800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7DDFDA90-0B53-A109-9F89-F7F39AAACC2C}"/>
              </a:ext>
            </a:extLst>
          </p:cNvPr>
          <p:cNvSpPr/>
          <p:nvPr/>
        </p:nvSpPr>
        <p:spPr>
          <a:xfrm>
            <a:off x="457200" y="331927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ID: 20100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event — ICMP Ping Detected</a:t>
            </a:r>
            <a:endParaRPr lang="en-US" sz="100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F6FE86F0-ACB8-B434-CFFD-8FCED7CC3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914400"/>
            <a:ext cx="5950634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Performed —  NMAP SYN Scan 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2286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3" name="Shape 17">
            <a:extLst>
              <a:ext uri="{FF2B5EF4-FFF2-40B4-BE49-F238E27FC236}">
                <a16:creationId xmlns:a16="http://schemas.microsoft.com/office/drawing/2014/main" id="{4AFAE07A-2D90-8FD6-EA5A-FC8CB83CC94D}"/>
              </a:ext>
            </a:extLst>
          </p:cNvPr>
          <p:cNvSpPr/>
          <p:nvPr/>
        </p:nvSpPr>
        <p:spPr>
          <a:xfrm>
            <a:off x="457200" y="877472"/>
            <a:ext cx="2743200" cy="4023360"/>
          </a:xfrm>
          <a:prstGeom prst="rect">
            <a:avLst/>
          </a:prstGeom>
          <a:solidFill>
            <a:srgbClr val="F8F9F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8">
            <a:extLst>
              <a:ext uri="{FF2B5EF4-FFF2-40B4-BE49-F238E27FC236}">
                <a16:creationId xmlns:a16="http://schemas.microsoft.com/office/drawing/2014/main" id="{BEF2670D-F36F-092A-4462-0C49701BB6B8}"/>
              </a:ext>
            </a:extLst>
          </p:cNvPr>
          <p:cNvSpPr/>
          <p:nvPr/>
        </p:nvSpPr>
        <p:spPr>
          <a:xfrm>
            <a:off x="457200" y="877472"/>
            <a:ext cx="2743200" cy="38404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F372F89B-DEA2-96FF-6B47-21D771FEB7ED}"/>
              </a:ext>
            </a:extLst>
          </p:cNvPr>
          <p:cNvSpPr/>
          <p:nvPr/>
        </p:nvSpPr>
        <p:spPr>
          <a:xfrm>
            <a:off x="548640" y="8774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SYN Scan</a:t>
            </a:r>
            <a:endParaRPr lang="en-US" sz="1300" dirty="0"/>
          </a:p>
        </p:txBody>
      </p:sp>
      <p:sp>
        <p:nvSpPr>
          <p:cNvPr id="28" name="Shape 20">
            <a:extLst>
              <a:ext uri="{FF2B5EF4-FFF2-40B4-BE49-F238E27FC236}">
                <a16:creationId xmlns:a16="http://schemas.microsoft.com/office/drawing/2014/main" id="{D9786FA5-103C-FD69-AB8B-0914368EB0D9}"/>
              </a:ext>
            </a:extLst>
          </p:cNvPr>
          <p:cNvSpPr/>
          <p:nvPr/>
        </p:nvSpPr>
        <p:spPr>
          <a:xfrm>
            <a:off x="548640" y="1316384"/>
            <a:ext cx="256032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92B58373-E25A-B445-D072-9A05B5F43A2F}"/>
              </a:ext>
            </a:extLst>
          </p:cNvPr>
          <p:cNvSpPr/>
          <p:nvPr/>
        </p:nvSpPr>
        <p:spPr>
          <a:xfrm>
            <a:off x="548640" y="13163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Tool: Nmap</a:t>
            </a:r>
            <a:endParaRPr lang="en-US" sz="1100" b="1" dirty="0"/>
          </a:p>
        </p:txBody>
      </p:sp>
      <p:sp>
        <p:nvSpPr>
          <p:cNvPr id="31" name="Shape 22">
            <a:extLst>
              <a:ext uri="{FF2B5EF4-FFF2-40B4-BE49-F238E27FC236}">
                <a16:creationId xmlns:a16="http://schemas.microsoft.com/office/drawing/2014/main" id="{B0F7D74E-E7E9-BEBC-AFBA-1C96880354C4}"/>
              </a:ext>
            </a:extLst>
          </p:cNvPr>
          <p:cNvSpPr/>
          <p:nvPr/>
        </p:nvSpPr>
        <p:spPr>
          <a:xfrm>
            <a:off x="548640" y="1627280"/>
            <a:ext cx="256032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566817DF-376E-8B9C-B82B-8DE15872F5C8}"/>
              </a:ext>
            </a:extLst>
          </p:cNvPr>
          <p:cNvSpPr/>
          <p:nvPr/>
        </p:nvSpPr>
        <p:spPr>
          <a:xfrm>
            <a:off x="594360" y="16272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nmap -sS 192.168.121.132</a:t>
            </a:r>
            <a:endParaRPr lang="en-US" sz="900" dirty="0"/>
          </a:p>
        </p:txBody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592A46B0-BD13-2780-CF0F-188C2B5A0CEA}"/>
              </a:ext>
            </a:extLst>
          </p:cNvPr>
          <p:cNvSpPr/>
          <p:nvPr/>
        </p:nvSpPr>
        <p:spPr>
          <a:xfrm>
            <a:off x="594360" y="1993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1000" dirty="0"/>
          </a:p>
        </p:txBody>
      </p:sp>
      <p:sp>
        <p:nvSpPr>
          <p:cNvPr id="43" name="Text 25">
            <a:extLst>
              <a:ext uri="{FF2B5EF4-FFF2-40B4-BE49-F238E27FC236}">
                <a16:creationId xmlns:a16="http://schemas.microsoft.com/office/drawing/2014/main" id="{D8EE9085-A1E4-CE98-4BF3-6F2F2B09AF69}"/>
              </a:ext>
            </a:extLst>
          </p:cNvPr>
          <p:cNvSpPr/>
          <p:nvPr/>
        </p:nvSpPr>
        <p:spPr>
          <a:xfrm>
            <a:off x="594360" y="220335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SYN packets to every port without completing handshake. Discovers open services stealthily.</a:t>
            </a:r>
            <a:endParaRPr lang="en-US" sz="1000" dirty="0"/>
          </a:p>
        </p:txBody>
      </p:sp>
      <p:sp>
        <p:nvSpPr>
          <p:cNvPr id="45" name="Text 27">
            <a:extLst>
              <a:ext uri="{FF2B5EF4-FFF2-40B4-BE49-F238E27FC236}">
                <a16:creationId xmlns:a16="http://schemas.microsoft.com/office/drawing/2014/main" id="{CE52EB40-5EAF-06EE-94E2-3BC31D1B115E}"/>
              </a:ext>
            </a:extLst>
          </p:cNvPr>
          <p:cNvSpPr/>
          <p:nvPr/>
        </p:nvSpPr>
        <p:spPr>
          <a:xfrm>
            <a:off x="548640" y="29988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Alert</a:t>
            </a:r>
            <a:endParaRPr lang="en-US" sz="1000" dirty="0"/>
          </a:p>
        </p:txBody>
      </p:sp>
      <p:sp>
        <p:nvSpPr>
          <p:cNvPr id="50" name="Text 34">
            <a:extLst>
              <a:ext uri="{FF2B5EF4-FFF2-40B4-BE49-F238E27FC236}">
                <a16:creationId xmlns:a16="http://schemas.microsoft.com/office/drawing/2014/main" id="{56024C2B-59DF-DDDD-D203-1BB1BAE5B1FF}"/>
              </a:ext>
            </a:extLst>
          </p:cNvPr>
          <p:cNvSpPr/>
          <p:nvPr/>
        </p:nvSpPr>
        <p:spPr>
          <a:xfrm>
            <a:off x="6035040" y="9144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Aggressive</a:t>
            </a:r>
            <a:endParaRPr lang="en-US" sz="1300" dirty="0"/>
          </a:p>
        </p:txBody>
      </p:sp>
      <p:sp>
        <p:nvSpPr>
          <p:cNvPr id="57" name="Text 42">
            <a:extLst>
              <a:ext uri="{FF2B5EF4-FFF2-40B4-BE49-F238E27FC236}">
                <a16:creationId xmlns:a16="http://schemas.microsoft.com/office/drawing/2014/main" id="{CC0BAB2A-47B9-F516-F3BA-E60AA66C562A}"/>
              </a:ext>
            </a:extLst>
          </p:cNvPr>
          <p:cNvSpPr/>
          <p:nvPr/>
        </p:nvSpPr>
        <p:spPr>
          <a:xfrm>
            <a:off x="6035040" y="30358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Alert</a:t>
            </a:r>
            <a:endParaRPr lang="en-US" sz="1000" dirty="0"/>
          </a:p>
        </p:txBody>
      </p:sp>
      <p:sp>
        <p:nvSpPr>
          <p:cNvPr id="58" name="Text 44">
            <a:extLst>
              <a:ext uri="{FF2B5EF4-FFF2-40B4-BE49-F238E27FC236}">
                <a16:creationId xmlns:a16="http://schemas.microsoft.com/office/drawing/2014/main" id="{3C33E524-F1E2-BED4-7AF0-761D3204E95B}"/>
              </a:ext>
            </a:extLst>
          </p:cNvPr>
          <p:cNvSpPr/>
          <p:nvPr/>
        </p:nvSpPr>
        <p:spPr>
          <a:xfrm>
            <a:off x="6126480" y="32918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9" name="Text 46">
            <a:extLst>
              <a:ext uri="{FF2B5EF4-FFF2-40B4-BE49-F238E27FC236}">
                <a16:creationId xmlns:a16="http://schemas.microsoft.com/office/drawing/2014/main" id="{4F8BB97E-F58B-1A3F-164F-21A7A6E62194}"/>
              </a:ext>
            </a:extLst>
          </p:cNvPr>
          <p:cNvSpPr/>
          <p:nvPr/>
        </p:nvSpPr>
        <p:spPr>
          <a:xfrm>
            <a:off x="6035040" y="40050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62" name="Shape 26">
            <a:extLst>
              <a:ext uri="{FF2B5EF4-FFF2-40B4-BE49-F238E27FC236}">
                <a16:creationId xmlns:a16="http://schemas.microsoft.com/office/drawing/2014/main" id="{ABE26C2A-D38E-4C31-33B6-8A7B48A09951}"/>
              </a:ext>
            </a:extLst>
          </p:cNvPr>
          <p:cNvSpPr/>
          <p:nvPr/>
        </p:nvSpPr>
        <p:spPr>
          <a:xfrm>
            <a:off x="548640" y="3150108"/>
            <a:ext cx="2560320" cy="2286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3" name="Text 27">
            <a:extLst>
              <a:ext uri="{FF2B5EF4-FFF2-40B4-BE49-F238E27FC236}">
                <a16:creationId xmlns:a16="http://schemas.microsoft.com/office/drawing/2014/main" id="{3A7FB100-0440-F81D-7901-5A516F4E9CD9}"/>
              </a:ext>
            </a:extLst>
          </p:cNvPr>
          <p:cNvSpPr/>
          <p:nvPr/>
        </p:nvSpPr>
        <p:spPr>
          <a:xfrm>
            <a:off x="548640" y="31501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Alert</a:t>
            </a:r>
            <a:endParaRPr lang="en-US" sz="1000" dirty="0"/>
          </a:p>
        </p:txBody>
      </p:sp>
      <p:sp>
        <p:nvSpPr>
          <p:cNvPr id="64" name="Shape 28">
            <a:extLst>
              <a:ext uri="{FF2B5EF4-FFF2-40B4-BE49-F238E27FC236}">
                <a16:creationId xmlns:a16="http://schemas.microsoft.com/office/drawing/2014/main" id="{CDE8B036-D519-70DF-D8D2-562F0167F0DB}"/>
              </a:ext>
            </a:extLst>
          </p:cNvPr>
          <p:cNvSpPr/>
          <p:nvPr/>
        </p:nvSpPr>
        <p:spPr>
          <a:xfrm>
            <a:off x="548640" y="3378708"/>
            <a:ext cx="2560320" cy="685800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5" name="Text 29">
            <a:extLst>
              <a:ext uri="{FF2B5EF4-FFF2-40B4-BE49-F238E27FC236}">
                <a16:creationId xmlns:a16="http://schemas.microsoft.com/office/drawing/2014/main" id="{255C5C03-89B6-2029-6078-FC50655065CB}"/>
              </a:ext>
            </a:extLst>
          </p:cNvPr>
          <p:cNvSpPr/>
          <p:nvPr/>
        </p:nvSpPr>
        <p:spPr>
          <a:xfrm>
            <a:off x="640080" y="34061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ID: 20101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event — Nmap SYN Scan Detected</a:t>
            </a:r>
            <a:endParaRPr lang="en-US" sz="1000" dirty="0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08661200-66BC-33BE-38E2-219BCF34C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154" y="877472"/>
            <a:ext cx="5665763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978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Performed — SSH Brute Force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2286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1" y="898574"/>
            <a:ext cx="3398130" cy="4023360"/>
          </a:xfrm>
          <a:prstGeom prst="rect">
            <a:avLst/>
          </a:prstGeom>
          <a:solidFill>
            <a:srgbClr val="F8F9F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898574"/>
            <a:ext cx="3398129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5794" y="881341"/>
            <a:ext cx="346143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 SSH Brute Force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1329397"/>
            <a:ext cx="3398129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337486"/>
            <a:ext cx="346143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Tool: Hydra</a:t>
            </a:r>
            <a:endParaRPr lang="en-US" sz="1000" b="1" dirty="0"/>
          </a:p>
        </p:txBody>
      </p:sp>
      <p:sp>
        <p:nvSpPr>
          <p:cNvPr id="24" name="Shape 22"/>
          <p:cNvSpPr/>
          <p:nvPr/>
        </p:nvSpPr>
        <p:spPr>
          <a:xfrm>
            <a:off x="365760" y="1632556"/>
            <a:ext cx="3341467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1648382"/>
            <a:ext cx="3380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</a:t>
            </a: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hydra -l root -P rockyou.txt 192.168.121.132 ssh -t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507" y="2117188"/>
            <a:ext cx="3380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4731" y="2231488"/>
            <a:ext cx="3380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thousands of passwords from rockyou.txt wordlist against SSH port 22. Simulates a credential stuffing / brute force attack.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3019982"/>
            <a:ext cx="346143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Alert</a:t>
            </a:r>
            <a:endParaRPr lang="en-US" sz="1000" dirty="0"/>
          </a:p>
        </p:txBody>
      </p:sp>
      <p:sp>
        <p:nvSpPr>
          <p:cNvPr id="34" name="Shape 26">
            <a:extLst>
              <a:ext uri="{FF2B5EF4-FFF2-40B4-BE49-F238E27FC236}">
                <a16:creationId xmlns:a16="http://schemas.microsoft.com/office/drawing/2014/main" id="{BE9D1F23-DFF6-8D59-F94B-CC6CD5A2250C}"/>
              </a:ext>
            </a:extLst>
          </p:cNvPr>
          <p:cNvSpPr/>
          <p:nvPr/>
        </p:nvSpPr>
        <p:spPr>
          <a:xfrm>
            <a:off x="457200" y="2997122"/>
            <a:ext cx="2750234" cy="2286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CA79E971-A986-6F5B-6168-64EC0ECCC851}"/>
              </a:ext>
            </a:extLst>
          </p:cNvPr>
          <p:cNvSpPr/>
          <p:nvPr/>
        </p:nvSpPr>
        <p:spPr>
          <a:xfrm>
            <a:off x="101600" y="2986220"/>
            <a:ext cx="346143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Alert</a:t>
            </a:r>
            <a:endParaRPr lang="en-US" sz="1000" dirty="0"/>
          </a:p>
        </p:txBody>
      </p:sp>
      <p:sp>
        <p:nvSpPr>
          <p:cNvPr id="36" name="Shape 28">
            <a:extLst>
              <a:ext uri="{FF2B5EF4-FFF2-40B4-BE49-F238E27FC236}">
                <a16:creationId xmlns:a16="http://schemas.microsoft.com/office/drawing/2014/main" id="{265A2946-5620-AAE2-4561-266730EAA3F7}"/>
              </a:ext>
            </a:extLst>
          </p:cNvPr>
          <p:cNvSpPr/>
          <p:nvPr/>
        </p:nvSpPr>
        <p:spPr>
          <a:xfrm>
            <a:off x="457200" y="3223260"/>
            <a:ext cx="2750234" cy="685800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3F3DD6F8-9222-F486-404B-C8DBB9B54247}"/>
              </a:ext>
            </a:extLst>
          </p:cNvPr>
          <p:cNvSpPr/>
          <p:nvPr/>
        </p:nvSpPr>
        <p:spPr>
          <a:xfrm>
            <a:off x="548641" y="3278828"/>
            <a:ext cx="2546252" cy="593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ID: 1000005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8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 this IDS alert — SSH Brute Force Detected</a:t>
            </a:r>
            <a:endParaRPr lang="en-US" sz="10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2430F7D-7B73-316D-07B2-22DCF8192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665" y="891539"/>
            <a:ext cx="5316486" cy="40233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Performed — Nikto Web Scan 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2286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2940148" cy="4023360"/>
          </a:xfrm>
          <a:prstGeom prst="rect">
            <a:avLst/>
          </a:prstGeom>
          <a:solidFill>
            <a:srgbClr val="F8F9F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2940148" cy="38404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-274320" y="92811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Nikto Web Scan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2940148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-274320" y="134645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Tool: Nikto</a:t>
            </a:r>
            <a:endParaRPr lang="en-US" sz="1200" b="1" dirty="0"/>
          </a:p>
        </p:txBody>
      </p:sp>
      <p:sp>
        <p:nvSpPr>
          <p:cNvPr id="9" name="Shape 7"/>
          <p:cNvSpPr/>
          <p:nvPr/>
        </p:nvSpPr>
        <p:spPr>
          <a:xfrm>
            <a:off x="274320" y="1664208"/>
            <a:ext cx="2940148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642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 err="1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nikto</a:t>
            </a: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-h http://192.168.121.132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0116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229729"/>
            <a:ext cx="28029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web server for vulnerabilities, misconfigs, and dangerous files. Sends thousands of HTTP requests with 'Nikto' in the User-Agent header.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03580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Alert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9144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 SSH Brute Force</a:t>
            </a:r>
            <a:endParaRPr lang="en-US" sz="13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5D2422B-7373-4485-23C7-92C34415A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0188" y="908825"/>
            <a:ext cx="5799406" cy="3996085"/>
          </a:xfrm>
          <a:prstGeom prst="rect">
            <a:avLst/>
          </a:prstGeom>
        </p:spPr>
      </p:pic>
      <p:sp>
        <p:nvSpPr>
          <p:cNvPr id="16" name="Shape 11">
            <a:extLst>
              <a:ext uri="{FF2B5EF4-FFF2-40B4-BE49-F238E27FC236}">
                <a16:creationId xmlns:a16="http://schemas.microsoft.com/office/drawing/2014/main" id="{3D47528A-3D59-D164-7BE9-5E03739FA8BE}"/>
              </a:ext>
            </a:extLst>
          </p:cNvPr>
          <p:cNvSpPr/>
          <p:nvPr/>
        </p:nvSpPr>
        <p:spPr>
          <a:xfrm>
            <a:off x="411480" y="3166991"/>
            <a:ext cx="2729132" cy="17197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B31151DB-EB45-EB81-5388-1CB1BF3662F9}"/>
              </a:ext>
            </a:extLst>
          </p:cNvPr>
          <p:cNvSpPr/>
          <p:nvPr/>
        </p:nvSpPr>
        <p:spPr>
          <a:xfrm>
            <a:off x="411480" y="3166991"/>
            <a:ext cx="2729132" cy="171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Alert</a:t>
            </a:r>
            <a:endParaRPr lang="en-US" sz="10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CAF3F3AA-EE09-71E8-D619-6B4DB8038F17}"/>
              </a:ext>
            </a:extLst>
          </p:cNvPr>
          <p:cNvSpPr/>
          <p:nvPr/>
        </p:nvSpPr>
        <p:spPr>
          <a:xfrm>
            <a:off x="411480" y="3508839"/>
            <a:ext cx="2729132" cy="515928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ACD5601D-3919-9AED-BE38-BC65BE2B4AD6}"/>
              </a:ext>
            </a:extLst>
          </p:cNvPr>
          <p:cNvSpPr/>
          <p:nvPr/>
        </p:nvSpPr>
        <p:spPr>
          <a:xfrm>
            <a:off x="502920" y="3520415"/>
            <a:ext cx="2602196" cy="467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ID: 20101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event — Nikto Web Scan Detected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12204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Performed — DOS Attack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2286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2743200" cy="4023360"/>
          </a:xfrm>
          <a:prstGeom prst="rect">
            <a:avLst/>
          </a:prstGeom>
          <a:solidFill>
            <a:srgbClr val="F8F9F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Attack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256032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533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Tool: hping3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256032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642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hping3 --udp -p 53 --flood 192.168.121.132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0299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2402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 target with UDP/TCP packets. Simulates DDoS attack pattern targeting DNS port 53.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0358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Alert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2918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0" y="9144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Xmas Scan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035040" y="9144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/ FIN Scan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035040" y="30358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Alert</a:t>
            </a:r>
            <a:endParaRPr lang="en-US" sz="1000" dirty="0"/>
          </a:p>
        </p:txBody>
      </p:sp>
      <p:sp>
        <p:nvSpPr>
          <p:cNvPr id="49" name="Shape 11">
            <a:extLst>
              <a:ext uri="{FF2B5EF4-FFF2-40B4-BE49-F238E27FC236}">
                <a16:creationId xmlns:a16="http://schemas.microsoft.com/office/drawing/2014/main" id="{7D915393-74EF-DCC6-049A-0B4A90432B60}"/>
              </a:ext>
            </a:extLst>
          </p:cNvPr>
          <p:cNvSpPr/>
          <p:nvPr/>
        </p:nvSpPr>
        <p:spPr>
          <a:xfrm>
            <a:off x="365760" y="3035808"/>
            <a:ext cx="2560320" cy="2286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323210E2-D49C-A647-9282-22E84CCAC658}"/>
              </a:ext>
            </a:extLst>
          </p:cNvPr>
          <p:cNvSpPr/>
          <p:nvPr/>
        </p:nvSpPr>
        <p:spPr>
          <a:xfrm>
            <a:off x="365760" y="30358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Alert</a:t>
            </a:r>
            <a:endParaRPr lang="en-US" sz="1000" dirty="0"/>
          </a:p>
        </p:txBody>
      </p:sp>
      <p:sp>
        <p:nvSpPr>
          <p:cNvPr id="51" name="Shape 13">
            <a:extLst>
              <a:ext uri="{FF2B5EF4-FFF2-40B4-BE49-F238E27FC236}">
                <a16:creationId xmlns:a16="http://schemas.microsoft.com/office/drawing/2014/main" id="{AFB834B5-6195-A327-8372-7D0AE22F88DE}"/>
              </a:ext>
            </a:extLst>
          </p:cNvPr>
          <p:cNvSpPr/>
          <p:nvPr/>
        </p:nvSpPr>
        <p:spPr>
          <a:xfrm>
            <a:off x="365760" y="3264408"/>
            <a:ext cx="2560320" cy="685800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AC9D1F82-58BB-3A36-3CE0-A862B4385719}"/>
              </a:ext>
            </a:extLst>
          </p:cNvPr>
          <p:cNvSpPr/>
          <p:nvPr/>
        </p:nvSpPr>
        <p:spPr>
          <a:xfrm>
            <a:off x="457200" y="32918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ID: 20101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event — Bad Traffic Detected</a:t>
            </a:r>
            <a:endParaRPr lang="en-US" sz="10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E3BD2347-0E4D-A97E-7B80-C64C674DF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684" y="909594"/>
            <a:ext cx="6183755" cy="40233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303520" cy="30175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399032"/>
            <a:ext cx="274320" cy="27432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99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4173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Snort IDS on Ubuntu and wrote custom detection rules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274320" cy="27432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89280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5 different attacks from Kali Linux targeting the Ubuntu VM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350008"/>
            <a:ext cx="274320" cy="27432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50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36829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Snort with Wazuh SIEM via ossec.conf log monitoring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825496"/>
            <a:ext cx="274320" cy="27432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254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84378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Visualized real-time IDS alerts on the Wazuh Security Events dashboard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300984"/>
            <a:ext cx="274320" cy="27432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009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31927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 PDF incident report directly from the Wazuh dashboard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52160" y="960120"/>
            <a:ext cx="2926080" cy="30175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1005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89320" y="1417320"/>
            <a:ext cx="265176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14173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78040" y="14173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/ packet inspection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89320" y="1892808"/>
            <a:ext cx="265176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189280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78040" y="18928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/ dashboarding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89320" y="2368296"/>
            <a:ext cx="265176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236829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78040" y="23682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89320" y="2843784"/>
            <a:ext cx="265176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28437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78040" y="284378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89320" y="3319272"/>
            <a:ext cx="265176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33192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hping3 / Nikto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78040" y="33192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/ web scan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114800"/>
            <a:ext cx="8412480" cy="7772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133088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relevance: </a:t>
            </a:r>
            <a:r>
              <a:rPr lang="en-US" sz="1200" dirty="0">
                <a:solidFill>
                  <a:srgbClr val="D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lab mirrors a real SOC environment where Snort/Suricata feeds alerts into a SIEM platform like Wazuh, Splunk, or ELK Stack. Skills demonstrated — IDS rule writing, attack simulation, log integration, and alert triage — are core competencies for SOC Analyst and Penetration Tester roles.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199</TotalTime>
  <Words>721</Words>
  <Application>Microsoft Office PowerPoint</Application>
  <PresentationFormat>On-screen Show (16:9)</PresentationFormat>
  <Paragraphs>153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Snort IDS + Wazuh SIEM Integration</dc:title>
  <dc:subject>PptxGenJS Presentation</dc:subject>
  <dc:creator>PptxGenJS</dc:creator>
  <cp:lastModifiedBy>BISMA</cp:lastModifiedBy>
  <cp:revision>21</cp:revision>
  <dcterms:created xsi:type="dcterms:W3CDTF">2026-05-17T15:11:40Z</dcterms:created>
  <dcterms:modified xsi:type="dcterms:W3CDTF">2026-05-22T05:21:30Z</dcterms:modified>
</cp:coreProperties>
</file>